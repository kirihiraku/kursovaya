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6" r:id="rId8"/>
    <p:sldId id="267" r:id="rId9"/>
    <p:sldId id="260" r:id="rId10"/>
    <p:sldId id="263" r:id="rId11"/>
    <p:sldId id="264" r:id="rId12"/>
    <p:sldId id="268" r:id="rId13"/>
  </p:sldIdLst>
  <p:sldSz cx="14630400" cy="8229600"/>
  <p:notesSz cx="8229600" cy="14630400"/>
  <p:embeddedFontLst>
    <p:embeddedFont>
      <p:font typeface="Saira Medium" pitchFamily="34" charset="0"/>
      <p:regular r:id="rId17"/>
    </p:embeddedFont>
    <p:embeddedFont>
      <p:font typeface="Saira Medium" pitchFamily="34" charset="-122"/>
      <p:regular r:id="rId18"/>
    </p:embeddedFont>
    <p:embeddedFont>
      <p:font typeface="Saira Medium" pitchFamily="34" charset="-120"/>
      <p:regular r:id="rId19"/>
    </p:embeddedFont>
    <p:embeddedFont>
      <p:font typeface="Roboto" panose="02000000000000000000" pitchFamily="34" charset="0"/>
      <p:regular r:id="rId20"/>
    </p:embeddedFont>
    <p:embeddedFont>
      <p:font typeface="Roboto" panose="02000000000000000000" pitchFamily="34" charset="-122"/>
      <p:regular r:id="rId21"/>
    </p:embeddedFont>
    <p:embeddedFont>
      <p:font typeface="Roboto" panose="02000000000000000000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Text 0"/>
          <p:cNvSpPr/>
          <p:nvPr/>
        </p:nvSpPr>
        <p:spPr>
          <a:xfrm>
            <a:off x="793790" y="1829753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alt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Система генерации уникальных </a:t>
            </a:r>
            <a:r>
              <a:rPr lang="en-US" alt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QR-</a:t>
            </a:r>
            <a:r>
              <a:rPr lang="ru-RU" alt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Кодов</a:t>
            </a:r>
            <a:endParaRPr lang="ru-RU" altLang="en-US" sz="445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0" y="7148671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Выполнил</a:t>
            </a:r>
            <a:r>
              <a:rPr lang="en-US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</a:t>
            </a:r>
            <a:endParaRPr lang="ru-RU" altLang="en-US" sz="175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Студент гр</a:t>
            </a:r>
            <a:r>
              <a:rPr lang="en-US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r>
              <a:rPr lang="ru-RU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31</a:t>
            </a:r>
            <a:r>
              <a:rPr lang="ru-RU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ИСП</a:t>
            </a:r>
            <a:endParaRPr lang="ru-RU" altLang="en-US" sz="175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Сергеев В</a:t>
            </a:r>
            <a:r>
              <a:rPr lang="en-US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r>
              <a:rPr lang="ru-RU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А</a:t>
            </a:r>
            <a:r>
              <a:rPr lang="en-US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altLang="en-US" sz="175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1782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Что такое QR-код?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8587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5085874"/>
            <a:ext cx="315479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Двумерный штрих-код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576292"/>
            <a:ext cx="345924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QR-код хранит информацию в виде текста или URL.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08587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54078" y="5085874"/>
            <a:ext cx="321314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Быстрое сканирование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54078" y="5576292"/>
            <a:ext cx="345924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Смартфоны легко сканируют QR-коды.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08587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77249" y="508587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Высокая емкость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377249" y="5576292"/>
            <a:ext cx="345924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QR-коды хранят большой объем информации.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557248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QR-код (Quick Response Code) — это современный инструмент. Он быстро передает данные через сканирование. Он стал незаменимым в различных областях.</a:t>
            </a:r>
            <a:endParaRPr lang="en-US" sz="1750" dirty="0">
              <a:latin typeface="Saira Medium" pitchFamily="34" charset="0"/>
              <a:cs typeface="Saira Medium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>
              <a:latin typeface="Saira Medium" pitchFamily="34" charset="0"/>
              <a:cs typeface="Saira Medium" pitchFamily="34" charset="0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57977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Цели приложения</a:t>
            </a:r>
            <a:endParaRPr lang="en-US" sz="445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046565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200691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Удобство</a:t>
            </a:r>
            <a:endParaRPr lang="en-US" sz="2200" dirty="0">
              <a:solidFill>
                <a:srgbClr val="E5E0D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587579" y="2497336"/>
            <a:ext cx="676263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Простой и понятный интерфейс.</a:t>
            </a:r>
            <a:endParaRPr lang="en-US" sz="175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8032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87579" y="35406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Уникальность</a:t>
            </a:r>
            <a:endParaRPr lang="en-US" sz="2200" dirty="0">
              <a:solidFill>
                <a:srgbClr val="E5E0D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587579" y="4031099"/>
            <a:ext cx="676263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Индивидуальные настройки QR-кодов.</a:t>
            </a:r>
            <a:endParaRPr lang="en-US" sz="175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11409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87579" y="507444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Безопасность</a:t>
            </a:r>
            <a:endParaRPr lang="en-US" sz="2200" dirty="0">
              <a:solidFill>
                <a:srgbClr val="E5E0D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587579" y="5564862"/>
            <a:ext cx="676263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Защита и шифрование данных.</a:t>
            </a:r>
            <a:endParaRPr lang="en-US" sz="175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609640" y="639564"/>
            <a:ext cx="707159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alt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Задачи</a:t>
            </a:r>
            <a:endParaRPr lang="ru-RU" altLang="en-US" sz="445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101890"/>
            <a:ext cx="4196358" cy="171557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3464" y="23515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altLang="en-US" sz="220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Изучить учебную</a:t>
            </a:r>
            <a:r>
              <a:rPr lang="en-US" altLang="en-US" sz="220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,</a:t>
            </a:r>
            <a:r>
              <a:rPr lang="ru-RU" altLang="en-US" sz="220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справочную</a:t>
            </a:r>
            <a:endParaRPr lang="ru-RU" altLang="en-US" sz="2200" dirty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43464" y="2841982"/>
            <a:ext cx="36970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altLang="en-US" sz="220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литературу по данной теме</a:t>
            </a:r>
            <a:endParaRPr lang="ru-RU" altLang="en-US" sz="220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216962" y="2101890"/>
            <a:ext cx="4196358" cy="171557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66636" y="23515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Дизайн</a:t>
            </a:r>
            <a:endParaRPr lang="en-US" sz="2200" dirty="0">
              <a:solidFill>
                <a:srgbClr val="E5E0D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66636" y="2841982"/>
            <a:ext cx="36970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20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Разработать необходимую базу данных</a:t>
            </a:r>
            <a:endParaRPr lang="ru-RU" sz="220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639935" y="2101850"/>
            <a:ext cx="4518660" cy="1715770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2493" y="2351564"/>
            <a:ext cx="288714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Написать пояснительную записку</a:t>
            </a:r>
            <a:endParaRPr lang="ru-RU" sz="2200" dirty="0">
              <a:solidFill>
                <a:srgbClr val="E5E0D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889808" y="2841982"/>
            <a:ext cx="36970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altLang="en-US" sz="220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Подготовить необходимые диаграммы</a:t>
            </a:r>
            <a:endParaRPr lang="ru-RU" altLang="en-US" sz="220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3790" y="638782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Приложение позволяет генерировать, настраивать и делиться QR-кодами. Пользователи могут создавать уникальные коды для любых целей.</a:t>
            </a:r>
            <a:endParaRPr lang="en-US" sz="175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793750" y="4244975"/>
            <a:ext cx="4228465" cy="1715770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6" name="Text 2"/>
          <p:cNvSpPr/>
          <p:nvPr/>
        </p:nvSpPr>
        <p:spPr>
          <a:xfrm>
            <a:off x="1043464" y="449468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Написать приложение которое</a:t>
            </a:r>
            <a:endParaRPr lang="ru-RU" sz="2200" dirty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1043464" y="4985107"/>
            <a:ext cx="36970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ru-RU" altLang="en-US" sz="220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будет выполнять поставленные задачи</a:t>
            </a:r>
            <a:endParaRPr lang="ru-RU" altLang="en-US" sz="220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5217200" y="4245015"/>
            <a:ext cx="4196358" cy="171557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9" name="Text 2"/>
          <p:cNvSpPr/>
          <p:nvPr/>
        </p:nvSpPr>
        <p:spPr>
          <a:xfrm>
            <a:off x="5466874" y="457025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Провести тестирование </a:t>
            </a:r>
            <a:endParaRPr lang="ru-RU" sz="2200" dirty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5466874" y="5060672"/>
            <a:ext cx="36970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ru-RU" altLang="en-US" sz="220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приложения устранить недостатки</a:t>
            </a:r>
            <a:endParaRPr lang="ru-RU" altLang="en-US" sz="220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Прямоугольник 13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/>
        </p:nvSpPr>
        <p:spPr>
          <a:xfrm>
            <a:off x="859801" y="481484"/>
            <a:ext cx="2677795" cy="1268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250" b="1" i="0">
                <a:solidFill>
                  <a:schemeClr val="tx1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50" b="0" spc="-49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С</a:t>
            </a:r>
            <a:r>
              <a:rPr sz="8150" b="0" spc="-14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У</a:t>
            </a:r>
            <a:r>
              <a:rPr sz="8150" b="0" spc="27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Б</a:t>
            </a:r>
            <a:r>
              <a:rPr sz="8150" b="0" spc="-58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Д</a:t>
            </a:r>
            <a:endParaRPr sz="8150" b="0" spc="-580" dirty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0" y="1887855"/>
            <a:ext cx="14610080" cy="222694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p>
            <a:pPr marL="12065" marR="5080" algn="ctr">
              <a:lnSpc>
                <a:spcPct val="116000"/>
              </a:lnSpc>
              <a:spcBef>
                <a:spcPts val="100"/>
              </a:spcBef>
            </a:pPr>
            <a:r>
              <a:rPr sz="3400" spc="-135" dirty="0" smtClean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SQL </a:t>
            </a:r>
            <a:r>
              <a:rPr sz="3400" spc="140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—</a:t>
            </a:r>
            <a:r>
              <a:rPr sz="340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это </a:t>
            </a:r>
            <a:r>
              <a:rPr sz="3400" spc="4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реляционная </a:t>
            </a:r>
            <a:r>
              <a:rPr sz="3400" spc="-5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система </a:t>
            </a:r>
            <a:r>
              <a:rPr sz="3400" spc="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управления </a:t>
            </a:r>
            <a:r>
              <a:rPr sz="3400" spc="-6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базами </a:t>
            </a:r>
            <a:r>
              <a:rPr sz="3400" spc="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данных </a:t>
            </a:r>
            <a:r>
              <a:rPr sz="3400" spc="-8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с </a:t>
            </a:r>
            <a:r>
              <a:rPr sz="340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открытым </a:t>
            </a:r>
            <a:r>
              <a:rPr sz="3400" spc="-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исходным</a:t>
            </a:r>
            <a:r>
              <a:rPr sz="3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-6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кодом.</a:t>
            </a:r>
            <a:r>
              <a:rPr sz="3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-14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В</a:t>
            </a:r>
            <a:r>
              <a:rPr sz="340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настоящее</a:t>
            </a:r>
            <a:r>
              <a:rPr sz="3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время</a:t>
            </a:r>
            <a:r>
              <a:rPr sz="340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-6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эта</a:t>
            </a:r>
            <a:r>
              <a:rPr sz="3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-29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СУБД</a:t>
            </a:r>
            <a:r>
              <a:rPr sz="340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одна</a:t>
            </a:r>
            <a:r>
              <a:rPr sz="3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из</a:t>
            </a:r>
            <a:r>
              <a:rPr sz="340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наиболее</a:t>
            </a:r>
            <a:r>
              <a:rPr sz="3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3400" spc="40" dirty="0" err="1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популярных</a:t>
            </a:r>
            <a:r>
              <a:rPr sz="340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lang="ru-RU" sz="3400" spc="114" dirty="0" smtClean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в разработке приложений и хранении больших баз данных.</a:t>
            </a:r>
            <a:endParaRPr lang="ru-RU" sz="3400" spc="114" dirty="0" smtClean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514285" y="4734058"/>
            <a:ext cx="4679950" cy="953769"/>
          </a:xfrm>
          <a:custGeom>
            <a:avLst/>
            <a:gdLst/>
            <a:ahLst/>
            <a:cxnLst/>
            <a:rect l="l" t="t" r="r" b="b"/>
            <a:pathLst>
              <a:path w="4679950" h="953770">
                <a:moveTo>
                  <a:pt x="4509293" y="953723"/>
                </a:moveTo>
                <a:lnTo>
                  <a:pt x="170518" y="953723"/>
                </a:lnTo>
                <a:lnTo>
                  <a:pt x="125262" y="947605"/>
                </a:lnTo>
                <a:lnTo>
                  <a:pt x="84550" y="930350"/>
                </a:lnTo>
                <a:lnTo>
                  <a:pt x="50024" y="903603"/>
                </a:lnTo>
                <a:lnTo>
                  <a:pt x="23328" y="869012"/>
                </a:lnTo>
                <a:lnTo>
                  <a:pt x="6106" y="828222"/>
                </a:lnTo>
                <a:lnTo>
                  <a:pt x="0" y="782880"/>
                </a:lnTo>
                <a:lnTo>
                  <a:pt x="0" y="170843"/>
                </a:lnTo>
                <a:lnTo>
                  <a:pt x="6106" y="125501"/>
                </a:lnTo>
                <a:lnTo>
                  <a:pt x="23328" y="84711"/>
                </a:lnTo>
                <a:lnTo>
                  <a:pt x="50024" y="50119"/>
                </a:lnTo>
                <a:lnTo>
                  <a:pt x="84550" y="23373"/>
                </a:lnTo>
                <a:lnTo>
                  <a:pt x="125262" y="6117"/>
                </a:lnTo>
                <a:lnTo>
                  <a:pt x="170518" y="0"/>
                </a:lnTo>
                <a:lnTo>
                  <a:pt x="4509293" y="0"/>
                </a:lnTo>
                <a:lnTo>
                  <a:pt x="4554549" y="6117"/>
                </a:lnTo>
                <a:lnTo>
                  <a:pt x="4595261" y="23373"/>
                </a:lnTo>
                <a:lnTo>
                  <a:pt x="4629787" y="50119"/>
                </a:lnTo>
                <a:lnTo>
                  <a:pt x="4656483" y="84711"/>
                </a:lnTo>
                <a:lnTo>
                  <a:pt x="4673706" y="125501"/>
                </a:lnTo>
                <a:lnTo>
                  <a:pt x="4679812" y="170843"/>
                </a:lnTo>
                <a:lnTo>
                  <a:pt x="4679812" y="782880"/>
                </a:lnTo>
                <a:lnTo>
                  <a:pt x="4673706" y="828222"/>
                </a:lnTo>
                <a:lnTo>
                  <a:pt x="4656483" y="869012"/>
                </a:lnTo>
                <a:lnTo>
                  <a:pt x="4629787" y="903603"/>
                </a:lnTo>
                <a:lnTo>
                  <a:pt x="4595261" y="930350"/>
                </a:lnTo>
                <a:lnTo>
                  <a:pt x="4554549" y="947605"/>
                </a:lnTo>
                <a:lnTo>
                  <a:pt x="4509293" y="953723"/>
                </a:lnTo>
                <a:close/>
              </a:path>
            </a:pathLst>
          </a:custGeom>
          <a:solidFill>
            <a:srgbClr val="FFE400"/>
          </a:solidFill>
        </p:spPr>
        <p:txBody>
          <a:bodyPr wrap="square" lIns="0" tIns="0" rIns="0" bIns="0" rtlCol="0"/>
          <a:p>
            <a:pPr algn="ctr"/>
            <a:endParaRPr lang="ru-RU">
              <a:solidFill>
                <a:schemeClr val="tx1"/>
              </a:solidFill>
              <a:latin typeface="Saira Medium" pitchFamily="34" charset="0"/>
              <a:cs typeface="Saira Medium" pitchFamily="34" charset="0"/>
            </a:endParaRPr>
          </a:p>
          <a:p>
            <a:pPr algn="ctr"/>
            <a:r>
              <a:rPr lang="ru-RU">
                <a:solidFill>
                  <a:schemeClr val="tx1"/>
                </a:solidFill>
                <a:latin typeface="Saira Medium" pitchFamily="34" charset="0"/>
                <a:cs typeface="Saira Medium" pitchFamily="34" charset="0"/>
              </a:rPr>
              <a:t>Достоинства</a:t>
            </a:r>
            <a:endParaRPr lang="ru-RU">
              <a:solidFill>
                <a:schemeClr val="tx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550" y="5687695"/>
            <a:ext cx="5764530" cy="1778000"/>
          </a:xfrm>
          <a:prstGeom prst="rect">
            <a:avLst/>
          </a:prstGeom>
        </p:spPr>
        <p:txBody>
          <a:bodyPr vert="horz" wrap="square" lIns="0" tIns="94615" rIns="0" bIns="0" rtlCol="0">
            <a:noAutofit/>
          </a:bodyPr>
          <a:p>
            <a:pPr marL="516255" indent="-504190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516890" algn="l"/>
              </a:tabLst>
            </a:pPr>
            <a:r>
              <a:rPr sz="280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Простота</a:t>
            </a:r>
            <a:r>
              <a:rPr sz="2800" spc="-9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800" spc="3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использования.</a:t>
            </a:r>
            <a:endParaRPr sz="280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  <a:p>
            <a:pPr marL="516255" indent="-504190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516890" algn="l"/>
              </a:tabLst>
            </a:pPr>
            <a:r>
              <a:rPr sz="2800" spc="8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Обширный</a:t>
            </a:r>
            <a:r>
              <a:rPr sz="2800" spc="-5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800" spc="-4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функционал.</a:t>
            </a:r>
            <a:endParaRPr sz="280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  <a:p>
            <a:pPr marL="516255" indent="-504190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516890" algn="l"/>
              </a:tabLst>
            </a:pPr>
            <a:r>
              <a:rPr sz="2800" spc="-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Масштабируемость.</a:t>
            </a:r>
            <a:endParaRPr sz="2800" spc="-10" dirty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88221" y="4734058"/>
            <a:ext cx="4679950" cy="953769"/>
          </a:xfrm>
          <a:custGeom>
            <a:avLst/>
            <a:gdLst/>
            <a:ahLst/>
            <a:cxnLst/>
            <a:rect l="l" t="t" r="r" b="b"/>
            <a:pathLst>
              <a:path w="4679950" h="953770">
                <a:moveTo>
                  <a:pt x="4509293" y="953723"/>
                </a:moveTo>
                <a:lnTo>
                  <a:pt x="170518" y="953723"/>
                </a:lnTo>
                <a:lnTo>
                  <a:pt x="125262" y="947605"/>
                </a:lnTo>
                <a:lnTo>
                  <a:pt x="84550" y="930350"/>
                </a:lnTo>
                <a:lnTo>
                  <a:pt x="50024" y="903603"/>
                </a:lnTo>
                <a:lnTo>
                  <a:pt x="23328" y="869012"/>
                </a:lnTo>
                <a:lnTo>
                  <a:pt x="6106" y="828222"/>
                </a:lnTo>
                <a:lnTo>
                  <a:pt x="0" y="782880"/>
                </a:lnTo>
                <a:lnTo>
                  <a:pt x="0" y="170843"/>
                </a:lnTo>
                <a:lnTo>
                  <a:pt x="6106" y="125501"/>
                </a:lnTo>
                <a:lnTo>
                  <a:pt x="23328" y="84711"/>
                </a:lnTo>
                <a:lnTo>
                  <a:pt x="50024" y="50119"/>
                </a:lnTo>
                <a:lnTo>
                  <a:pt x="84550" y="23373"/>
                </a:lnTo>
                <a:lnTo>
                  <a:pt x="125262" y="6117"/>
                </a:lnTo>
                <a:lnTo>
                  <a:pt x="170518" y="0"/>
                </a:lnTo>
                <a:lnTo>
                  <a:pt x="4509293" y="0"/>
                </a:lnTo>
                <a:lnTo>
                  <a:pt x="4554549" y="6117"/>
                </a:lnTo>
                <a:lnTo>
                  <a:pt x="4595261" y="23373"/>
                </a:lnTo>
                <a:lnTo>
                  <a:pt x="4629787" y="50119"/>
                </a:lnTo>
                <a:lnTo>
                  <a:pt x="4656483" y="84711"/>
                </a:lnTo>
                <a:lnTo>
                  <a:pt x="4673706" y="125501"/>
                </a:lnTo>
                <a:lnTo>
                  <a:pt x="4679812" y="170843"/>
                </a:lnTo>
                <a:lnTo>
                  <a:pt x="4679812" y="782880"/>
                </a:lnTo>
                <a:lnTo>
                  <a:pt x="4673706" y="828222"/>
                </a:lnTo>
                <a:lnTo>
                  <a:pt x="4656483" y="869012"/>
                </a:lnTo>
                <a:lnTo>
                  <a:pt x="4629787" y="903603"/>
                </a:lnTo>
                <a:lnTo>
                  <a:pt x="4595261" y="930350"/>
                </a:lnTo>
                <a:lnTo>
                  <a:pt x="4554549" y="947605"/>
                </a:lnTo>
                <a:lnTo>
                  <a:pt x="4509293" y="953723"/>
                </a:lnTo>
                <a:close/>
              </a:path>
            </a:pathLst>
          </a:custGeom>
          <a:solidFill>
            <a:srgbClr val="FFE400"/>
          </a:solidFill>
        </p:spPr>
        <p:txBody>
          <a:bodyPr wrap="square" lIns="0" tIns="0" rIns="0" bIns="0" rtlCol="0"/>
          <a:p>
            <a:pPr algn="ctr"/>
            <a:endParaRPr lang="ru-RU">
              <a:solidFill>
                <a:schemeClr val="tx1"/>
              </a:solidFill>
              <a:latin typeface="Saira Medium" pitchFamily="34" charset="0"/>
              <a:cs typeface="Saira Medium" pitchFamily="34" charset="0"/>
            </a:endParaRPr>
          </a:p>
          <a:p>
            <a:pPr algn="ctr"/>
            <a:r>
              <a:rPr lang="ru-RU">
                <a:solidFill>
                  <a:schemeClr val="tx1"/>
                </a:solidFill>
                <a:latin typeface="Saira Medium" pitchFamily="34" charset="0"/>
                <a:cs typeface="Saira Medium" pitchFamily="34" charset="0"/>
              </a:rPr>
              <a:t>Недостатки</a:t>
            </a:r>
            <a:endParaRPr lang="ru-RU">
              <a:solidFill>
                <a:schemeClr val="tx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27307" y="5687807"/>
            <a:ext cx="6403340" cy="19831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p>
            <a:pPr marL="516255" indent="-504190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516890" algn="l"/>
              </a:tabLst>
            </a:pPr>
            <a:r>
              <a:rPr sz="2800" spc="-6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Низкая</a:t>
            </a:r>
            <a:r>
              <a:rPr sz="2800" spc="-4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800" spc="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скорость</a:t>
            </a:r>
            <a:r>
              <a:rPr sz="2800" spc="-3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80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разработки.</a:t>
            </a:r>
            <a:endParaRPr sz="2800" dirty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  <a:p>
            <a:pPr marL="516255" indent="-504190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516890" algn="l"/>
              </a:tabLst>
            </a:pPr>
            <a:r>
              <a:rPr lang="ru-RU" sz="2800" spc="-5" dirty="0" smtClean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Обработка данных в памяти </a:t>
            </a:r>
            <a:r>
              <a:rPr lang="ru-RU" sz="2800" spc="-5" dirty="0" err="1" smtClean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Java</a:t>
            </a:r>
            <a:r>
              <a:rPr lang="ru-RU" sz="2800" spc="-5" dirty="0" smtClean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.</a:t>
            </a:r>
            <a:endParaRPr lang="en-US" sz="2800" spc="-5" dirty="0" smtClean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  <a:p>
            <a:pPr marL="516255" indent="-504190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516890" algn="l"/>
              </a:tabLst>
            </a:pPr>
            <a:r>
              <a:rPr lang="ru-RU" sz="2800" dirty="0" smtClean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	Использование агрегатных функций вместо оконных функций.</a:t>
            </a:r>
            <a:endParaRPr lang="ru-RU" sz="2800" dirty="0" smtClean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Прямоугольник 17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3354" y="864220"/>
            <a:ext cx="9979025" cy="9823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250" spc="13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Язык</a:t>
            </a:r>
            <a:r>
              <a:rPr sz="6250" spc="-38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6250" spc="4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программирования</a:t>
            </a:r>
            <a:endParaRPr sz="6250" spc="45" dirty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247015" y="2975610"/>
            <a:ext cx="15124430" cy="449008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p>
            <a:pPr marL="12700" marR="5080" algn="ctr">
              <a:lnSpc>
                <a:spcPct val="116000"/>
              </a:lnSpc>
              <a:spcBef>
                <a:spcPts val="100"/>
              </a:spcBef>
            </a:pPr>
            <a:r>
              <a:rPr sz="2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C#</a:t>
            </a:r>
            <a:r>
              <a:rPr sz="2400" spc="-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140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—</a:t>
            </a:r>
            <a:r>
              <a:rPr sz="2400" spc="-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5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современный</a:t>
            </a:r>
            <a:r>
              <a:rPr sz="2400" spc="-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6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объектно-ориентированный</a:t>
            </a:r>
            <a:r>
              <a:rPr sz="2400" spc="-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13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и</a:t>
            </a:r>
            <a:r>
              <a:rPr sz="2400" spc="-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3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типо-безопасный</a:t>
            </a:r>
            <a:r>
              <a:rPr sz="2400" spc="-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-9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язык </a:t>
            </a:r>
            <a:r>
              <a:rPr sz="2400" spc="-88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4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программирования. </a:t>
            </a:r>
            <a:r>
              <a:rPr sz="2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C# </a:t>
            </a:r>
            <a:r>
              <a:rPr sz="240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позволяет </a:t>
            </a:r>
            <a:r>
              <a:rPr sz="240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разработчикам </a:t>
            </a:r>
            <a:r>
              <a:rPr sz="2400" spc="-3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создавать </a:t>
            </a:r>
            <a:r>
              <a:rPr sz="240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множество </a:t>
            </a:r>
            <a:r>
              <a:rPr sz="240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9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типов</a:t>
            </a:r>
            <a:r>
              <a:rPr sz="2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безопасных</a:t>
            </a:r>
            <a:r>
              <a:rPr sz="2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13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и</a:t>
            </a:r>
            <a:r>
              <a:rPr sz="2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надежных</a:t>
            </a:r>
            <a:r>
              <a:rPr sz="2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4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приложений,</a:t>
            </a:r>
            <a:r>
              <a:rPr sz="2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endParaRPr sz="2400" spc="-25" dirty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  <a:p>
            <a:pPr marL="12700" marR="5080" algn="ctr">
              <a:lnSpc>
                <a:spcPct val="116000"/>
              </a:lnSpc>
              <a:spcBef>
                <a:spcPts val="100"/>
              </a:spcBef>
            </a:pPr>
            <a:r>
              <a:rPr sz="2400" spc="4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работающих</a:t>
            </a:r>
            <a:r>
              <a:rPr sz="2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114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в</a:t>
            </a:r>
            <a:r>
              <a:rPr sz="240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 </a:t>
            </a:r>
            <a:r>
              <a:rPr sz="2400" spc="-5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экосистеме.</a:t>
            </a:r>
            <a:endParaRPr sz="2400" spc="-50" dirty="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>
              <a:latin typeface="Saira Medium" pitchFamily="34" charset="0"/>
              <a:cs typeface="Saira Medium" pitchFamily="34" charset="0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502" y="787360"/>
            <a:ext cx="7594997" cy="1383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Преимущества использования</a:t>
            </a:r>
            <a:endParaRPr lang="en-US" sz="435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02" y="2502218"/>
            <a:ext cx="1106448" cy="13276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12777" y="2723436"/>
            <a:ext cx="2766179" cy="345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Экономия времени</a:t>
            </a:r>
            <a:endParaRPr lang="en-US" sz="2150" dirty="0">
              <a:solidFill>
                <a:srgbClr val="E5E0D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212777" y="3201829"/>
            <a:ext cx="6156722" cy="354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Быстрая генерация за секунды.</a:t>
            </a:r>
            <a:endParaRPr lang="en-US" sz="170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02" y="3829883"/>
            <a:ext cx="1106448" cy="13276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12777" y="4051102"/>
            <a:ext cx="2766179" cy="345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Доступность</a:t>
            </a:r>
            <a:endParaRPr lang="en-US" sz="2150" dirty="0">
              <a:solidFill>
                <a:srgbClr val="E5E0D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212777" y="4529495"/>
            <a:ext cx="6156722" cy="354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Различные платформы.</a:t>
            </a:r>
            <a:endParaRPr lang="en-US" sz="170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02" y="5157549"/>
            <a:ext cx="1106448" cy="13276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12777" y="5378768"/>
            <a:ext cx="2766179" cy="345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Аналитика</a:t>
            </a:r>
            <a:endParaRPr lang="en-US" sz="2150" dirty="0">
              <a:solidFill>
                <a:srgbClr val="E5E0D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212777" y="5857161"/>
            <a:ext cx="6156722" cy="354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Отслеживание статистики сканирований.</a:t>
            </a:r>
            <a:endParaRPr lang="en-US" sz="170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74502" y="6734056"/>
            <a:ext cx="7594997" cy="708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Наше приложение экономит время и доступно на разных устройствах. Функция аналитики помогает оценить эффективность QR-кодов.</a:t>
            </a:r>
            <a:endParaRPr lang="en-US" sz="170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endParaRPr lang="ru-RU" altLang="en-US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222290" y="57034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altLang="en-US" sz="4450" dirty="0">
                <a:solidFill>
                  <a:schemeClr val="bg1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Безопасность</a:t>
            </a:r>
            <a:endParaRPr lang="ru-RU" altLang="en-US" sz="4450" dirty="0">
              <a:solidFill>
                <a:schemeClr val="bg1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 flipH="1">
            <a:off x="448310" y="1844675"/>
            <a:ext cx="76200" cy="5444490"/>
          </a:xfrm>
          <a:prstGeom prst="roundRect">
            <a:avLst>
              <a:gd name="adj" fmla="val 669768"/>
            </a:avLst>
          </a:prstGeom>
          <a:solidFill>
            <a:srgbClr val="FFFFFF">
              <a:alpha val="24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702112" y="2127052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FC8337"/>
          </a:solidFill>
        </p:spPr>
      </p:sp>
      <p:sp>
        <p:nvSpPr>
          <p:cNvPr id="6" name="Shape 3"/>
          <p:cNvSpPr/>
          <p:nvPr/>
        </p:nvSpPr>
        <p:spPr>
          <a:xfrm>
            <a:off x="222290" y="18871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7360" y="1929646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50" dirty="0">
                <a:solidFill>
                  <a:schemeClr val="bg1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1</a:t>
            </a:r>
            <a:endParaRPr lang="en-US" sz="2650" dirty="0">
              <a:solidFill>
                <a:schemeClr val="bg1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608455" y="1689100"/>
            <a:ext cx="9170670" cy="906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2700" marR="857885" algn="l">
              <a:lnSpc>
                <a:spcPct val="200000"/>
              </a:lnSpc>
              <a:spcBef>
                <a:spcPts val="100"/>
              </a:spcBef>
            </a:pPr>
            <a:r>
              <a:rPr sz="1750" spc="-2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SQL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4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Server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содержит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5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встроенные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3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средства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шифрования,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endParaRPr sz="1750" spc="-25" dirty="0">
              <a:solidFill>
                <a:schemeClr val="bg1"/>
              </a:solidFill>
              <a:latin typeface="Saira Medium" pitchFamily="34" charset="0"/>
              <a:cs typeface="Saira Medium" pitchFamily="34" charset="0"/>
              <a:sym typeface="+mn-ea"/>
            </a:endParaRPr>
          </a:p>
          <a:p>
            <a:pPr marL="12700" marR="857885" algn="l">
              <a:lnSpc>
                <a:spcPct val="200000"/>
              </a:lnSpc>
              <a:spcBef>
                <a:spcPts val="100"/>
              </a:spcBef>
            </a:pPr>
            <a:r>
              <a:rPr sz="1750" spc="3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цифровой </a:t>
            </a:r>
            <a:r>
              <a:rPr sz="1750" spc="6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подписи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13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и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верификации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данных</a:t>
            </a:r>
            <a:endParaRPr sz="1750" spc="20" dirty="0">
              <a:solidFill>
                <a:schemeClr val="bg1"/>
              </a:solidFill>
              <a:latin typeface="Saira Medium" pitchFamily="34" charset="0"/>
              <a:cs typeface="Saira Medium" pitchFamily="34" charset="0"/>
              <a:sym typeface="+mn-ea"/>
            </a:endParaRPr>
          </a:p>
          <a:p>
            <a:pPr marL="12700" marR="857885" algn="l">
              <a:lnSpc>
                <a:spcPct val="200000"/>
              </a:lnSpc>
              <a:spcBef>
                <a:spcPts val="100"/>
              </a:spcBef>
            </a:pPr>
            <a:r>
              <a:rPr sz="1750" spc="-8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с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9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помощью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симметричных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ключей.</a:t>
            </a:r>
            <a:endParaRPr lang="en-US" sz="1750" spc="5" dirty="0">
              <a:solidFill>
                <a:schemeClr val="bg1"/>
              </a:solidFill>
              <a:latin typeface="Saira Medium" pitchFamily="34" charset="0"/>
              <a:cs typeface="Saira Medium" pitchFamily="34" charset="0"/>
              <a:sym typeface="+mn-e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18622" y="4179610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FC8337"/>
          </a:solidFill>
        </p:spPr>
      </p:sp>
      <p:sp>
        <p:nvSpPr>
          <p:cNvPr id="11" name="Shape 8"/>
          <p:cNvSpPr/>
          <p:nvPr/>
        </p:nvSpPr>
        <p:spPr>
          <a:xfrm>
            <a:off x="238800" y="3939699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3870" y="3982204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50" dirty="0">
                <a:solidFill>
                  <a:schemeClr val="bg1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2</a:t>
            </a:r>
            <a:endParaRPr lang="en-US" sz="2650" dirty="0">
              <a:solidFill>
                <a:schemeClr val="bg1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93096" y="4114125"/>
            <a:ext cx="61671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2700" marR="5080" algn="l">
              <a:lnSpc>
                <a:spcPct val="100000"/>
              </a:lnSpc>
              <a:spcBef>
                <a:spcPts val="2765"/>
              </a:spcBef>
            </a:pPr>
            <a:r>
              <a:rPr sz="1750" spc="-3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Весь </a:t>
            </a:r>
            <a:r>
              <a:rPr sz="1750" spc="-9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трафик </a:t>
            </a:r>
            <a:r>
              <a:rPr sz="1750" spc="-1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между </a:t>
            </a:r>
            <a:r>
              <a:rPr sz="1750" spc="-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клиентом </a:t>
            </a:r>
            <a:r>
              <a:rPr sz="1750" spc="13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и </a:t>
            </a:r>
            <a:r>
              <a:rPr sz="1750" spc="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сервером </a:t>
            </a:r>
            <a:r>
              <a:rPr sz="1750" spc="1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по </a:t>
            </a:r>
            <a:r>
              <a:rPr sz="1750" spc="3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умолчанию</a:t>
            </a:r>
            <a:endParaRPr sz="1750" spc="30" dirty="0">
              <a:solidFill>
                <a:schemeClr val="bg1"/>
              </a:solidFill>
              <a:latin typeface="Saira Medium" pitchFamily="34" charset="0"/>
              <a:cs typeface="Saira Medium" pitchFamily="34" charset="0"/>
              <a:sym typeface="+mn-ea"/>
            </a:endParaRPr>
          </a:p>
          <a:p>
            <a:pPr marL="12700" marR="5080" algn="l">
              <a:lnSpc>
                <a:spcPct val="100000"/>
              </a:lnSpc>
              <a:spcBef>
                <a:spcPts val="2765"/>
              </a:spcBef>
            </a:pPr>
            <a:r>
              <a:rPr sz="1750" spc="-5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шифруется </a:t>
            </a:r>
            <a:r>
              <a:rPr sz="1750" spc="-8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с </a:t>
            </a:r>
            <a:r>
              <a:rPr sz="1750" spc="-8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4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применением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4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протоколов</a:t>
            </a:r>
            <a:r>
              <a:rPr sz="175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18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IP</a:t>
            </a:r>
            <a:r>
              <a:rPr sz="175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Security</a:t>
            </a:r>
            <a:r>
              <a:rPr sz="175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19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(IP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34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SEC)</a:t>
            </a:r>
            <a:r>
              <a:rPr sz="175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endParaRPr sz="1750" spc="-15" dirty="0">
              <a:solidFill>
                <a:schemeClr val="bg1"/>
              </a:solidFill>
              <a:latin typeface="Saira Medium" pitchFamily="34" charset="0"/>
              <a:cs typeface="Saira Medium" pitchFamily="34" charset="0"/>
              <a:sym typeface="+mn-ea"/>
            </a:endParaRPr>
          </a:p>
          <a:p>
            <a:pPr marL="12700" marR="5080" algn="l">
              <a:lnSpc>
                <a:spcPct val="100000"/>
              </a:lnSpc>
              <a:spcBef>
                <a:spcPts val="2765"/>
              </a:spcBef>
            </a:pPr>
            <a:r>
              <a:rPr sz="1750" spc="13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и</a:t>
            </a:r>
            <a:r>
              <a:rPr sz="175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4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Secure</a:t>
            </a:r>
            <a:r>
              <a:rPr sz="175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6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Sockets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5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Layer</a:t>
            </a:r>
            <a:r>
              <a:rPr sz="175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26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(SSL).</a:t>
            </a:r>
            <a:endParaRPr lang="en-US" sz="1750" spc="-260" dirty="0">
              <a:solidFill>
                <a:schemeClr val="bg1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  <a:sym typeface="+mn-e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2112" y="7018933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FC8337"/>
          </a:solidFill>
        </p:spPr>
      </p:sp>
      <p:sp>
        <p:nvSpPr>
          <p:cNvPr id="16" name="Shape 13"/>
          <p:cNvSpPr/>
          <p:nvPr/>
        </p:nvSpPr>
        <p:spPr>
          <a:xfrm>
            <a:off x="222290" y="6779022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7360" y="6821527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50" dirty="0">
                <a:solidFill>
                  <a:schemeClr val="bg1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3</a:t>
            </a:r>
            <a:endParaRPr lang="en-US" sz="2650" dirty="0">
              <a:solidFill>
                <a:schemeClr val="bg1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576586" y="6458783"/>
            <a:ext cx="61671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2700" marR="286385" algn="l">
              <a:lnSpc>
                <a:spcPct val="116000"/>
              </a:lnSpc>
              <a:spcBef>
                <a:spcPts val="2245"/>
              </a:spcBef>
            </a:pPr>
            <a:r>
              <a:rPr sz="1750" spc="-2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SQL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4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Server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9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также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поддерживает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3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шифрование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4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самих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хранимых</a:t>
            </a:r>
            <a:endParaRPr sz="1750" spc="25" dirty="0">
              <a:solidFill>
                <a:schemeClr val="bg1"/>
              </a:solidFill>
              <a:latin typeface="Saira Medium" pitchFamily="34" charset="0"/>
              <a:cs typeface="Saira Medium" pitchFamily="34" charset="0"/>
              <a:sym typeface="+mn-ea"/>
            </a:endParaRPr>
          </a:p>
          <a:p>
            <a:pPr marL="12700" marR="286385" algn="l">
              <a:lnSpc>
                <a:spcPct val="116000"/>
              </a:lnSpc>
              <a:spcBef>
                <a:spcPts val="2245"/>
              </a:spcBef>
            </a:pPr>
            <a:r>
              <a:rPr sz="1750" spc="-1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данных, </a:t>
            </a:r>
            <a:r>
              <a:rPr sz="1750" spc="-1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6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полностью</a:t>
            </a:r>
            <a:r>
              <a:rPr sz="1750" spc="-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8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интегрированное</a:t>
            </a:r>
            <a:r>
              <a:rPr sz="1750" spc="-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8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с</a:t>
            </a:r>
            <a:r>
              <a:rPr sz="1750" spc="-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инфраструктурой</a:t>
            </a:r>
            <a:endParaRPr sz="1750" spc="-25" dirty="0">
              <a:solidFill>
                <a:schemeClr val="bg1"/>
              </a:solidFill>
              <a:latin typeface="Saira Medium" pitchFamily="34" charset="0"/>
              <a:cs typeface="Saira Medium" pitchFamily="34" charset="0"/>
              <a:sym typeface="+mn-ea"/>
            </a:endParaRPr>
          </a:p>
          <a:p>
            <a:pPr marL="12700" marR="286385" algn="l">
              <a:lnSpc>
                <a:spcPct val="116000"/>
              </a:lnSpc>
              <a:spcBef>
                <a:spcPts val="2245"/>
              </a:spcBef>
            </a:pPr>
            <a:r>
              <a:rPr sz="1750" spc="2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управления</a:t>
            </a:r>
            <a:r>
              <a:rPr sz="1750" spc="-5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 </a:t>
            </a:r>
            <a:r>
              <a:rPr sz="1750" spc="-20" dirty="0">
                <a:solidFill>
                  <a:schemeClr val="bg1"/>
                </a:solidFill>
                <a:latin typeface="Saira Medium" pitchFamily="34" charset="0"/>
                <a:cs typeface="Saira Medium" pitchFamily="34" charset="0"/>
                <a:sym typeface="+mn-ea"/>
              </a:rPr>
              <a:t>ключами.</a:t>
            </a:r>
            <a:endParaRPr lang="en-US" sz="1750" spc="-20" dirty="0">
              <a:solidFill>
                <a:schemeClr val="bg1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>
              <a:latin typeface="Saira Medium" pitchFamily="34" charset="0"/>
              <a:cs typeface="Saira Medium" pitchFamily="34" charset="0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452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0"/>
              </a:rPr>
              <a:t>Заключение</a:t>
            </a:r>
            <a:endParaRPr lang="en-US" sz="445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913465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Roboto" panose="02000000000000000000" pitchFamily="34" charset="-122"/>
                <a:cs typeface="Saira Medium" pitchFamily="34" charset="0"/>
              </a:rPr>
              <a:t>Наше приложение упрощает создание и использование QR-кодов. Мы делаем этот процесс доступным и безопасным для всех пользователей. Это мощный инструмент для бизнеса и личного использования.</a:t>
            </a:r>
            <a:endParaRPr lang="en-US" sz="1750" dirty="0">
              <a:solidFill>
                <a:srgbClr val="E5E0DF"/>
              </a:solidFill>
              <a:latin typeface="Saira Medium" pitchFamily="34" charset="0"/>
              <a:ea typeface="Roboto" panose="02000000000000000000" pitchFamily="34" charset="-122"/>
              <a:cs typeface="Saira Medium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Прямоугольник 13"/>
          <p:cNvSpPr/>
          <p:nvPr/>
        </p:nvSpPr>
        <p:spPr>
          <a:xfrm>
            <a:off x="12563475" y="7465695"/>
            <a:ext cx="2066290" cy="673735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>
              <a:latin typeface="Saira Medium" pitchFamily="34" charset="0"/>
              <a:cs typeface="Saira Medium" pitchFamily="34" charset="0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2713355" y="3368040"/>
            <a:ext cx="920432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6600">
                <a:solidFill>
                  <a:schemeClr val="bg1"/>
                </a:solidFill>
                <a:latin typeface="Saira Medium" pitchFamily="34" charset="0"/>
                <a:cs typeface="Saira Medium" pitchFamily="34" charset="0"/>
              </a:rPr>
              <a:t>Спасибо за внимание</a:t>
            </a:r>
            <a:endParaRPr lang="ru-RU" altLang="en-US" sz="6600">
              <a:solidFill>
                <a:schemeClr val="bg1"/>
              </a:solidFill>
              <a:latin typeface="Saira Medium" pitchFamily="34" charset="0"/>
              <a:cs typeface="Saira Medium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2451</Words>
  <Application>WPS Presentation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3" baseType="lpstr">
      <vt:lpstr>Arial</vt:lpstr>
      <vt:lpstr>SimSun</vt:lpstr>
      <vt:lpstr>Wingdings</vt:lpstr>
      <vt:lpstr>Saira Medium</vt:lpstr>
      <vt:lpstr>Saira Medium</vt:lpstr>
      <vt:lpstr>Saira Medium</vt:lpstr>
      <vt:lpstr>Roboto</vt:lpstr>
      <vt:lpstr>Roboto</vt:lpstr>
      <vt:lpstr>Roboto</vt:lpstr>
      <vt:lpstr>Roboto Bold</vt:lpstr>
      <vt:lpstr>Segoe Print</vt:lpstr>
      <vt:lpstr>Roboto Bold</vt:lpstr>
      <vt:lpstr>Roboto Bold</vt:lpstr>
      <vt:lpstr>Calibri</vt:lpstr>
      <vt:lpstr>Microsoft YaHei</vt:lpstr>
      <vt:lpstr>Arial Unicode MS</vt:lpstr>
      <vt:lpstr>MingLiU-ExtB</vt:lpstr>
      <vt:lpstr>Comic Sans MS</vt:lpstr>
      <vt:lpstr>Lucida Sans Unicode</vt:lpstr>
      <vt:lpstr>Arial</vt:lpstr>
      <vt:lpstr>Microsoft Sans Serif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СУБД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Kirih</cp:lastModifiedBy>
  <cp:revision>3</cp:revision>
  <dcterms:created xsi:type="dcterms:W3CDTF">2025-04-09T19:05:00Z</dcterms:created>
  <dcterms:modified xsi:type="dcterms:W3CDTF">2025-04-09T20:06:26Z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3EFC7E0320334B76B1178440F93C0090_12</vt:lpwstr>
  </property>
  <property fmtid="{D5CDD505-2E9C-101B-9397-08002B2CF9AE}" pid="3" name="KSOProductBuildVer">
    <vt:lpwstr>1049-12.2.0.20782</vt:lpwstr>
  </property>
</Properties>
</file>